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05" r:id="rId5"/>
    <p:sldId id="306" r:id="rId6"/>
    <p:sldId id="296" r:id="rId7"/>
    <p:sldId id="314" r:id="rId8"/>
    <p:sldId id="294" r:id="rId9"/>
    <p:sldId id="315" r:id="rId10"/>
    <p:sldId id="313" r:id="rId11"/>
    <p:sldId id="317" r:id="rId12"/>
    <p:sldId id="310" r:id="rId13"/>
    <p:sldId id="31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879" autoAdjust="0"/>
  </p:normalViewPr>
  <p:slideViewPr>
    <p:cSldViewPr snapToGrid="0">
      <p:cViewPr varScale="1">
        <p:scale>
          <a:sx n="97" d="100"/>
          <a:sy n="97" d="100"/>
        </p:scale>
        <p:origin x="579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/>
      <dgm:spPr/>
      <dgm:t>
        <a:bodyPr/>
        <a:lstStyle/>
        <a:p>
          <a:pPr>
            <a:defRPr b="1"/>
          </a:pPr>
          <a:r>
            <a:rPr lang="en-US" b="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 Development Month 1-2 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/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/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600" b="0" i="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User Interface, ticket system and dashboard</a:t>
          </a: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/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/>
        </a:p>
      </dgm:t>
    </dgm:pt>
    <dgm:pt modelId="{D05E1923-5021-40F7-B4EF-E582E23A699D}">
      <dgm:prSet phldr="0"/>
      <dgm:spPr/>
      <dgm:t>
        <a:bodyPr/>
        <a:lstStyle/>
        <a:p>
          <a:pPr>
            <a:defRPr b="1"/>
          </a:pPr>
          <a:r>
            <a:rPr lang="en-US" b="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Notifications Month 3-4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/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/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600" b="0" i="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Notifications  and gaming interface </a:t>
          </a: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/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/>
        </a:p>
      </dgm:t>
    </dgm:pt>
    <dgm:pt modelId="{FA8F44BD-C8C7-462C-9756-1EC498E86842}">
      <dgm:prSet phldr="0"/>
      <dgm:spPr/>
      <dgm:t>
        <a:bodyPr/>
        <a:lstStyle/>
        <a:p>
          <a:pPr>
            <a:defRPr b="1"/>
          </a:pPr>
          <a:r>
            <a:rPr lang="en-US" b="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 Testing Month 4-5 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/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/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600" b="0" i="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Soft release within the company to check for user ease and troubleshoot</a:t>
          </a: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/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/>
        </a:p>
      </dgm:t>
    </dgm:pt>
    <dgm:pt modelId="{332BC85C-1CF3-4F8F-ACB7-5B6D53744AE1}">
      <dgm:prSet phldr="0" custT="1"/>
      <dgm:spPr/>
      <dgm:t>
        <a:bodyPr/>
        <a:lstStyle/>
        <a:p>
          <a:r>
            <a:rPr lang="en-US" sz="1600" b="0" i="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Public release and troubleshooting, seeing if the app is viable </a:t>
          </a:r>
        </a:p>
      </dgm:t>
    </dgm:pt>
    <dgm:pt modelId="{99F218FD-90FE-450E-A368-B3E3677E74E8}" type="parTrans" cxnId="{2617C475-F537-46A6-ADE1-4EB764853601}">
      <dgm:prSet/>
      <dgm:spPr/>
      <dgm:t>
        <a:bodyPr/>
        <a:lstStyle/>
        <a:p>
          <a:endParaRPr lang="en-US"/>
        </a:p>
      </dgm:t>
    </dgm:pt>
    <dgm:pt modelId="{8D1CC686-B05C-4470-A959-236CC9C8BB70}" type="sibTrans" cxnId="{2617C475-F537-46A6-ADE1-4EB764853601}">
      <dgm:prSet/>
      <dgm:spPr/>
      <dgm:t>
        <a:bodyPr/>
        <a:lstStyle/>
        <a:p>
          <a:endParaRPr lang="en-US"/>
        </a:p>
      </dgm:t>
    </dgm:pt>
    <dgm:pt modelId="{8BAB5E6F-A65E-41DB-A296-0818B0E49F7C}">
      <dgm:prSet phldr="0"/>
      <dgm:spPr/>
      <dgm:t>
        <a:bodyPr/>
        <a:lstStyle/>
        <a:p>
          <a:pPr>
            <a:defRPr b="1"/>
          </a:pPr>
          <a:r>
            <a:rPr lang="en-US" b="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Deployment Month 5-6</a:t>
          </a:r>
        </a:p>
      </dgm:t>
    </dgm:pt>
    <dgm:pt modelId="{B407F4C3-8FC9-4E91-A0EC-6B33713CC9A5}" type="sibTrans" cxnId="{66B49C6C-FAFD-47B4-BF22-05A295C23D4E}">
      <dgm:prSet/>
      <dgm:spPr/>
      <dgm:t>
        <a:bodyPr/>
        <a:lstStyle/>
        <a:p>
          <a:endParaRPr lang="en-US"/>
        </a:p>
      </dgm:t>
    </dgm:pt>
    <dgm:pt modelId="{886842C6-3EFC-4BE7-B417-415595758830}" type="parTrans" cxnId="{66B49C6C-FAFD-47B4-BF22-05A295C23D4E}">
      <dgm:prSet/>
      <dgm:spPr/>
      <dgm:t>
        <a:bodyPr/>
        <a:lstStyle/>
        <a:p>
          <a:endParaRPr lang="en-US"/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5" custLinFactNeighborY="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/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4"/>
      <dgm:spPr>
        <a:solidFill>
          <a:schemeClr val="accent1"/>
        </a:solidFill>
        <a:ln>
          <a:solidFill>
            <a:srgbClr val="4F5945"/>
          </a:solidFill>
        </a:ln>
      </dgm:spPr>
    </dgm:pt>
    <dgm:pt modelId="{5B7FC7CF-F58D-48D5-8BCC-38D6EE87890B}" type="pres">
      <dgm:prSet presAssocID="{58FF46FB-368D-4E9C-A650-0513B8879DA8}" presName="Ellipse" presStyleLbl="fgAcc1" presStyleIdx="1" presStyleCnt="5"/>
      <dgm:spPr>
        <a:solidFill>
          <a:schemeClr val="tx2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8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4"/>
      <dgm:spPr>
        <a:noFill/>
        <a:ln w="12700" cap="flat" cmpd="sng" algn="ctr">
          <a:solidFill>
            <a:schemeClr val="accent1"/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4"/>
      <dgm:spPr/>
    </dgm:pt>
    <dgm:pt modelId="{B1A1A837-F261-404B-A808-B2F4154CE8A2}" type="pres">
      <dgm:prSet presAssocID="{D05E1923-5021-40F7-B4EF-E582E23A699D}" presName="Ellipse" presStyleLbl="fgAcc1" presStyleIdx="2" presStyleCnt="5"/>
      <dgm:spPr>
        <a:solidFill>
          <a:schemeClr val="tx2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8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4"/>
      <dgm:spPr>
        <a:solidFill>
          <a:schemeClr val="accent1"/>
        </a:solidFill>
        <a:ln>
          <a:solidFill>
            <a:schemeClr val="accent1"/>
          </a:solidFill>
        </a:ln>
      </dgm:spPr>
    </dgm:pt>
    <dgm:pt modelId="{5D519322-C1DD-47AE-92C0-13575134BC76}" type="pres">
      <dgm:prSet presAssocID="{FA8F44BD-C8C7-462C-9756-1EC498E86842}" presName="Ellipse" presStyleLbl="fgAcc1" presStyleIdx="3" presStyleCnt="5"/>
      <dgm:spPr>
        <a:solidFill>
          <a:srgbClr val="CCD8D6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8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4"/>
      <dgm:spPr>
        <a:noFill/>
        <a:ln w="12700" cap="flat" cmpd="sng" algn="ctr">
          <a:solidFill>
            <a:schemeClr val="accent1"/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  <dgm:pt modelId="{E168BB9F-20D9-474F-9E39-4872B40634C6}" type="pres">
      <dgm:prSet presAssocID="{8C8A9736-03DA-4B1C-A590-10B4AD89452B}" presName="spaceBetweenRectangles" presStyleCnt="0"/>
      <dgm:spPr/>
    </dgm:pt>
    <dgm:pt modelId="{A62622B1-7EF4-49B6-9AC7-B54F0E2A0C74}" type="pres">
      <dgm:prSet presAssocID="{8BAB5E6F-A65E-41DB-A296-0818B0E49F7C}" presName="composite" presStyleCnt="0"/>
      <dgm:spPr/>
    </dgm:pt>
    <dgm:pt modelId="{14282312-87CB-41BB-A02D-C594BBEF33C7}" type="pres">
      <dgm:prSet presAssocID="{8BAB5E6F-A65E-41DB-A296-0818B0E49F7C}" presName="ConnectorPoint" presStyleLbl="lnNode1" presStyleIdx="3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554C1A5-AF8E-41FC-A779-25BD6B11F91F}" type="pres">
      <dgm:prSet presAssocID="{8BAB5E6F-A65E-41DB-A296-0818B0E49F7C}" presName="DropPinPlaceHolder" presStyleCnt="0"/>
      <dgm:spPr/>
    </dgm:pt>
    <dgm:pt modelId="{17331DD9-74CF-4A3A-86BA-F4B9DBEAB944}" type="pres">
      <dgm:prSet presAssocID="{8BAB5E6F-A65E-41DB-A296-0818B0E49F7C}" presName="DropPin" presStyleLbl="alignNode1" presStyleIdx="3" presStyleCnt="4"/>
      <dgm:spPr/>
    </dgm:pt>
    <dgm:pt modelId="{515AAB83-BD07-4B9E-9A3B-858C0B126F9C}" type="pres">
      <dgm:prSet presAssocID="{8BAB5E6F-A65E-41DB-A296-0818B0E49F7C}" presName="Ellipse" presStyleLbl="fgAcc1" presStyleIdx="4" presStyleCnt="5"/>
      <dgm:spPr>
        <a:solidFill>
          <a:schemeClr val="tx2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8CB2D5A-F46A-4E0E-9575-15F31D04AAC6}" type="pres">
      <dgm:prSet presAssocID="{8BAB5E6F-A65E-41DB-A296-0818B0E49F7C}" presName="L2TextContainer" presStyleLbl="revTx" presStyleIdx="6" presStyleCnt="8">
        <dgm:presLayoutVars>
          <dgm:bulletEnabled val="1"/>
        </dgm:presLayoutVars>
      </dgm:prSet>
      <dgm:spPr/>
    </dgm:pt>
    <dgm:pt modelId="{7C1E6B4A-59F7-4018-A403-E1CCAEE78BA1}" type="pres">
      <dgm:prSet presAssocID="{8BAB5E6F-A65E-41DB-A296-0818B0E49F7C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A03C5372-D306-43AC-B406-6F8183849431}" type="pres">
      <dgm:prSet presAssocID="{8BAB5E6F-A65E-41DB-A296-0818B0E49F7C}" presName="ConnectLine" presStyleLbl="sibTrans1D1" presStyleIdx="3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0926F0B-05E0-48AF-9C69-5C494731F877}" type="pres">
      <dgm:prSet presAssocID="{8BAB5E6F-A65E-41DB-A296-0818B0E49F7C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E0E45028-839A-4135-AA56-517D3BAA0708}" type="presOf" srcId="{8BAB5E6F-A65E-41DB-A296-0818B0E49F7C}" destId="{7C1E6B4A-59F7-4018-A403-E1CCAEE78BA1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66B49C6C-FAFD-47B4-BF22-05A295C23D4E}" srcId="{05A24E01-5535-46B9-A9A1-A9A07E639A88}" destId="{8BAB5E6F-A65E-41DB-A296-0818B0E49F7C}" srcOrd="3" destOrd="0" parTransId="{886842C6-3EFC-4BE7-B417-415595758830}" sibTransId="{B407F4C3-8FC9-4E91-A0EC-6B33713CC9A5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2617C475-F537-46A6-ADE1-4EB764853601}" srcId="{8BAB5E6F-A65E-41DB-A296-0818B0E49F7C}" destId="{332BC85C-1CF3-4F8F-ACB7-5B6D53744AE1}" srcOrd="0" destOrd="0" parTransId="{99F218FD-90FE-450E-A368-B3E3677E74E8}" sibTransId="{8D1CC686-B05C-4470-A959-236CC9C8BB70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DF6168D4-4FC3-42E4-8DAA-85BA8A678933}" type="presOf" srcId="{332BC85C-1CF3-4F8F-ACB7-5B6D53744AE1}" destId="{08CB2D5A-F46A-4E0E-9575-15F31D04AAC6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  <dgm:cxn modelId="{30EAF1CE-B96B-4CA5-BF13-51DD8040A559}" type="presParOf" srcId="{E6F74CED-5217-4282-85F1-1C12DC84731C}" destId="{E168BB9F-20D9-474F-9E39-4872B40634C6}" srcOrd="5" destOrd="0" presId="urn:microsoft.com/office/officeart/2017/3/layout/DropPinTimeline"/>
    <dgm:cxn modelId="{39415FEC-72C6-4C74-A821-E354E744CD96}" type="presParOf" srcId="{E6F74CED-5217-4282-85F1-1C12DC84731C}" destId="{A62622B1-7EF4-49B6-9AC7-B54F0E2A0C74}" srcOrd="6" destOrd="0" presId="urn:microsoft.com/office/officeart/2017/3/layout/DropPinTimeline"/>
    <dgm:cxn modelId="{D67F013A-C0A0-41F6-B6F2-E904B1BB7A8F}" type="presParOf" srcId="{A62622B1-7EF4-49B6-9AC7-B54F0E2A0C74}" destId="{14282312-87CB-41BB-A02D-C594BBEF33C7}" srcOrd="0" destOrd="0" presId="urn:microsoft.com/office/officeart/2017/3/layout/DropPinTimeline"/>
    <dgm:cxn modelId="{AA55F469-83D2-4E02-B111-0206AAFCAA06}" type="presParOf" srcId="{A62622B1-7EF4-49B6-9AC7-B54F0E2A0C74}" destId="{D554C1A5-AF8E-41FC-A779-25BD6B11F91F}" srcOrd="1" destOrd="0" presId="urn:microsoft.com/office/officeart/2017/3/layout/DropPinTimeline"/>
    <dgm:cxn modelId="{033C6509-70C8-4B85-9F92-724CDBB68078}" type="presParOf" srcId="{D554C1A5-AF8E-41FC-A779-25BD6B11F91F}" destId="{17331DD9-74CF-4A3A-86BA-F4B9DBEAB944}" srcOrd="0" destOrd="0" presId="urn:microsoft.com/office/officeart/2017/3/layout/DropPinTimeline"/>
    <dgm:cxn modelId="{C7CCDF66-BA72-4EDC-AE16-CAA6317954F0}" type="presParOf" srcId="{D554C1A5-AF8E-41FC-A779-25BD6B11F91F}" destId="{515AAB83-BD07-4B9E-9A3B-858C0B126F9C}" srcOrd="1" destOrd="0" presId="urn:microsoft.com/office/officeart/2017/3/layout/DropPinTimeline"/>
    <dgm:cxn modelId="{E8437A29-F853-4553-AB29-152AF603DF52}" type="presParOf" srcId="{A62622B1-7EF4-49B6-9AC7-B54F0E2A0C74}" destId="{08CB2D5A-F46A-4E0E-9575-15F31D04AAC6}" srcOrd="2" destOrd="0" presId="urn:microsoft.com/office/officeart/2017/3/layout/DropPinTimeline"/>
    <dgm:cxn modelId="{1F3D9CE2-342F-4335-BD41-5AA59D2BD7BD}" type="presParOf" srcId="{A62622B1-7EF4-49B6-9AC7-B54F0E2A0C74}" destId="{7C1E6B4A-59F7-4018-A403-E1CCAEE78BA1}" srcOrd="3" destOrd="0" presId="urn:microsoft.com/office/officeart/2017/3/layout/DropPinTimeline"/>
    <dgm:cxn modelId="{FFF1ACE9-B2B3-4E83-877B-F9633E8EE135}" type="presParOf" srcId="{A62622B1-7EF4-49B6-9AC7-B54F0E2A0C74}" destId="{A03C5372-D306-43AC-B406-6F8183849431}" srcOrd="4" destOrd="0" presId="urn:microsoft.com/office/officeart/2017/3/layout/DropPinTimeline"/>
    <dgm:cxn modelId="{D8A09163-94A5-46BD-9FA2-C3372A01AA32}" type="presParOf" srcId="{A62622B1-7EF4-49B6-9AC7-B54F0E2A0C74}" destId="{90926F0B-05E0-48AF-9C69-5C494731F877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659731"/>
          <a:ext cx="1024255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/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51696" y="382503"/>
          <a:ext cx="244110" cy="244110"/>
        </a:xfrm>
        <a:prstGeom prst="teardrop">
          <a:avLst>
            <a:gd name="adj" fmla="val 115000"/>
          </a:avLst>
        </a:prstGeom>
        <a:solidFill>
          <a:schemeClr val="accent1"/>
        </a:solidFill>
        <a:ln w="12700" cap="flat" cmpd="sng" algn="ctr">
          <a:solidFill>
            <a:srgbClr val="4F594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78815" y="409621"/>
          <a:ext cx="189873" cy="189873"/>
        </a:xfrm>
        <a:prstGeom prst="ellipse">
          <a:avLst/>
        </a:prstGeom>
        <a:solidFill>
          <a:schemeClr val="tx2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346364" y="677170"/>
          <a:ext cx="3405968" cy="982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0" rIns="101600" bIns="1524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User Interface, ticket system and dashboard</a:t>
          </a:r>
        </a:p>
      </dsp:txBody>
      <dsp:txXfrm>
        <a:off x="346364" y="677170"/>
        <a:ext cx="3405968" cy="982560"/>
      </dsp:txXfrm>
    </dsp:sp>
    <dsp:sp modelId="{8E3FB235-DF38-476B-9A0E-B1E583D50944}">
      <dsp:nvSpPr>
        <dsp:cNvPr id="0" name=""/>
        <dsp:cNvSpPr/>
      </dsp:nvSpPr>
      <dsp:spPr>
        <a:xfrm>
          <a:off x="346364" y="331946"/>
          <a:ext cx="3405968" cy="345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kern="120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 Development Month 1-2 </a:t>
          </a:r>
        </a:p>
      </dsp:txBody>
      <dsp:txXfrm>
        <a:off x="346364" y="331946"/>
        <a:ext cx="3405968" cy="345224"/>
      </dsp:txXfrm>
    </dsp:sp>
    <dsp:sp modelId="{9AA05CE5-209F-4AD9-BE2C-2A69F76DA8F4}">
      <dsp:nvSpPr>
        <dsp:cNvPr id="0" name=""/>
        <dsp:cNvSpPr/>
      </dsp:nvSpPr>
      <dsp:spPr>
        <a:xfrm>
          <a:off x="173752" y="677170"/>
          <a:ext cx="0" cy="982560"/>
        </a:xfrm>
        <a:prstGeom prst="line">
          <a:avLst/>
        </a:prstGeom>
        <a:noFill/>
        <a:ln w="12700" cap="flat" cmpd="sng" algn="ctr">
          <a:solidFill>
            <a:schemeClr val="accent1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142159" y="1628660"/>
          <a:ext cx="62140" cy="621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2097261" y="2692848"/>
          <a:ext cx="244110" cy="244110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2124379" y="2719967"/>
          <a:ext cx="189873" cy="189873"/>
        </a:xfrm>
        <a:prstGeom prst="ellipse">
          <a:avLst/>
        </a:prstGeom>
        <a:solidFill>
          <a:schemeClr val="tx2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2391928" y="1659731"/>
          <a:ext cx="3405968" cy="982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0" bIns="10160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Notifications  and gaming interface </a:t>
          </a:r>
        </a:p>
      </dsp:txBody>
      <dsp:txXfrm>
        <a:off x="2391928" y="1659731"/>
        <a:ext cx="3405968" cy="982560"/>
      </dsp:txXfrm>
    </dsp:sp>
    <dsp:sp modelId="{223C5207-4FA2-4A6C-8F43-20BD55767C99}">
      <dsp:nvSpPr>
        <dsp:cNvPr id="0" name=""/>
        <dsp:cNvSpPr/>
      </dsp:nvSpPr>
      <dsp:spPr>
        <a:xfrm>
          <a:off x="2391928" y="2642291"/>
          <a:ext cx="3405968" cy="345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kern="120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Notifications Month 3-4</a:t>
          </a:r>
        </a:p>
      </dsp:txBody>
      <dsp:txXfrm>
        <a:off x="2391928" y="2642291"/>
        <a:ext cx="3405968" cy="345224"/>
      </dsp:txXfrm>
    </dsp:sp>
    <dsp:sp modelId="{4FE5EB5D-4CEF-4D0D-9394-0534E61844BE}">
      <dsp:nvSpPr>
        <dsp:cNvPr id="0" name=""/>
        <dsp:cNvSpPr/>
      </dsp:nvSpPr>
      <dsp:spPr>
        <a:xfrm>
          <a:off x="2219316" y="1659731"/>
          <a:ext cx="0" cy="9825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2187724" y="1628660"/>
          <a:ext cx="62140" cy="621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4142825" y="382503"/>
          <a:ext cx="244110" cy="244110"/>
        </a:xfrm>
        <a:prstGeom prst="teardrop">
          <a:avLst>
            <a:gd name="adj" fmla="val 115000"/>
          </a:avLst>
        </a:prstGeom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4169944" y="409621"/>
          <a:ext cx="189873" cy="189873"/>
        </a:xfrm>
        <a:prstGeom prst="ellipse">
          <a:avLst/>
        </a:prstGeom>
        <a:solidFill>
          <a:srgbClr val="CCD8D6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4437492" y="677170"/>
          <a:ext cx="3405968" cy="982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0" rIns="101600" bIns="1524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Soft release within the company to check for user ease and troubleshoot</a:t>
          </a:r>
        </a:p>
      </dsp:txBody>
      <dsp:txXfrm>
        <a:off x="4437492" y="677170"/>
        <a:ext cx="3405968" cy="982560"/>
      </dsp:txXfrm>
    </dsp:sp>
    <dsp:sp modelId="{2D6C7916-1130-46A8-833B-A6278CBD2192}">
      <dsp:nvSpPr>
        <dsp:cNvPr id="0" name=""/>
        <dsp:cNvSpPr/>
      </dsp:nvSpPr>
      <dsp:spPr>
        <a:xfrm>
          <a:off x="4437492" y="331946"/>
          <a:ext cx="3405968" cy="345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kern="120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 Testing Month 4-5 </a:t>
          </a:r>
        </a:p>
      </dsp:txBody>
      <dsp:txXfrm>
        <a:off x="4437492" y="331946"/>
        <a:ext cx="3405968" cy="345224"/>
      </dsp:txXfrm>
    </dsp:sp>
    <dsp:sp modelId="{4D953791-5C2F-4A75-A8F4-6ED7EAB5E015}">
      <dsp:nvSpPr>
        <dsp:cNvPr id="0" name=""/>
        <dsp:cNvSpPr/>
      </dsp:nvSpPr>
      <dsp:spPr>
        <a:xfrm>
          <a:off x="4264880" y="677170"/>
          <a:ext cx="0" cy="982560"/>
        </a:xfrm>
        <a:prstGeom prst="line">
          <a:avLst/>
        </a:prstGeom>
        <a:noFill/>
        <a:ln w="12700" cap="flat" cmpd="sng" algn="ctr">
          <a:solidFill>
            <a:schemeClr val="accent1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4233288" y="1628660"/>
          <a:ext cx="62140" cy="621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31DD9-74CF-4A3A-86BA-F4B9DBEAB944}">
      <dsp:nvSpPr>
        <dsp:cNvPr id="0" name=""/>
        <dsp:cNvSpPr/>
      </dsp:nvSpPr>
      <dsp:spPr>
        <a:xfrm rot="18900000">
          <a:off x="6188390" y="2692848"/>
          <a:ext cx="244110" cy="244110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AAB83-BD07-4B9E-9A3B-858C0B126F9C}">
      <dsp:nvSpPr>
        <dsp:cNvPr id="0" name=""/>
        <dsp:cNvSpPr/>
      </dsp:nvSpPr>
      <dsp:spPr>
        <a:xfrm>
          <a:off x="6215508" y="2719967"/>
          <a:ext cx="189873" cy="189873"/>
        </a:xfrm>
        <a:prstGeom prst="ellipse">
          <a:avLst/>
        </a:prstGeom>
        <a:solidFill>
          <a:schemeClr val="tx2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CB2D5A-F46A-4E0E-9575-15F31D04AAC6}">
      <dsp:nvSpPr>
        <dsp:cNvPr id="0" name=""/>
        <dsp:cNvSpPr/>
      </dsp:nvSpPr>
      <dsp:spPr>
        <a:xfrm>
          <a:off x="6483057" y="1659731"/>
          <a:ext cx="3405968" cy="982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0" bIns="10160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rPr>
            <a:t>Public release and troubleshooting, seeing if the app is viable </a:t>
          </a:r>
        </a:p>
      </dsp:txBody>
      <dsp:txXfrm>
        <a:off x="6483057" y="1659731"/>
        <a:ext cx="3405968" cy="982560"/>
      </dsp:txXfrm>
    </dsp:sp>
    <dsp:sp modelId="{7C1E6B4A-59F7-4018-A403-E1CCAEE78BA1}">
      <dsp:nvSpPr>
        <dsp:cNvPr id="0" name=""/>
        <dsp:cNvSpPr/>
      </dsp:nvSpPr>
      <dsp:spPr>
        <a:xfrm>
          <a:off x="6483057" y="2642291"/>
          <a:ext cx="3405968" cy="345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kern="120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rPr>
            <a:t>Deployment Month 5-6</a:t>
          </a:r>
        </a:p>
      </dsp:txBody>
      <dsp:txXfrm>
        <a:off x="6483057" y="2642291"/>
        <a:ext cx="3405968" cy="345224"/>
      </dsp:txXfrm>
    </dsp:sp>
    <dsp:sp modelId="{A03C5372-D306-43AC-B406-6F8183849431}">
      <dsp:nvSpPr>
        <dsp:cNvPr id="0" name=""/>
        <dsp:cNvSpPr/>
      </dsp:nvSpPr>
      <dsp:spPr>
        <a:xfrm>
          <a:off x="6310445" y="1659731"/>
          <a:ext cx="0" cy="9825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282312-87CB-41BB-A02D-C594BBEF33C7}">
      <dsp:nvSpPr>
        <dsp:cNvPr id="0" name=""/>
        <dsp:cNvSpPr/>
      </dsp:nvSpPr>
      <dsp:spPr>
        <a:xfrm>
          <a:off x="6278853" y="1628660"/>
          <a:ext cx="62140" cy="621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9/8/2023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9/8/2023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3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anchor="b">
            <a:noAutofit/>
          </a:bodyPr>
          <a:lstStyle>
            <a:lvl1pPr algn="ctr"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sz="18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5" name="Picture 14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technosys.com/insights/cost-to-develop-ticket-booking-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900703"/>
            <a:ext cx="6693408" cy="1386913"/>
          </a:xfrm>
        </p:spPr>
        <p:txBody>
          <a:bodyPr/>
          <a:lstStyle/>
          <a:p>
            <a:r>
              <a:rPr lang="en-US" dirty="0"/>
              <a:t>LNS Education </a:t>
            </a:r>
            <a:br>
              <a:rPr lang="en-US" dirty="0"/>
            </a:br>
            <a:r>
              <a:rPr lang="en-US" dirty="0"/>
              <a:t>Solutions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8FFF96F-77A1-93AE-A4A8-5E16D3D99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Lillie Harper </a:t>
            </a:r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2655-34DF-25F9-4640-B2CE5329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5715-2793-160B-269E-D9516C84D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LNS Education Solutions is trying to implement a ticket based system; that allows students to enter their problems in the form of tickets. Accessible by: </a:t>
            </a:r>
          </a:p>
          <a:p>
            <a:r>
              <a:rPr lang="en-US" dirty="0"/>
              <a:t>Students, teachers and scrum masters, through a phone and laptop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This application would have a prioritization of tickets P1’s being very important tickets, while P5 tickets could be worked on up to 5 days later. 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09A75-5E9A-C165-5A1D-764F9E96B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8060B-6C9E-CFFF-55DE-F0D645C09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9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4555" y="293133"/>
            <a:ext cx="3922777" cy="133441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  <a:cs typeface="Calibri Light"/>
              </a:rPr>
              <a:t>Key Requirements </a:t>
            </a:r>
            <a:endParaRPr lang="en-US" dirty="0">
              <a:solidFill>
                <a:schemeClr val="accent3"/>
              </a:solidFill>
              <a:latin typeface="Baskerville Old Face" panose="02020602080505020303" pitchFamily="18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654192" y="3058939"/>
            <a:ext cx="1243661" cy="790090"/>
          </a:xfrm>
          <a:prstGeom prst="rect">
            <a:avLst/>
          </a:prstGeom>
        </p:spPr>
      </p:pic>
      <p:pic>
        <p:nvPicPr>
          <p:cNvPr id="1929" name="Picture 1928" descr="Floral leaf accent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385" y="2342954"/>
            <a:ext cx="1791038" cy="20336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3"/>
                </a:solidFill>
                <a:latin typeface="Gill Sans Nova Light" panose="020B0302020104020203" pitchFamily="34" charset="0"/>
                <a:cs typeface="Gill Sans Light" panose="020B0302020104020203" pitchFamily="34" charset="-79"/>
              </a:rPr>
              <a:t>-Accessible to ev</a:t>
            </a:r>
            <a:r>
              <a:rPr lang="en-US" dirty="0">
                <a:latin typeface="Gill Sans Nova Light" panose="020B0302020104020203" pitchFamily="34" charset="0"/>
                <a:cs typeface="Gill Sans Light" panose="020B0302020104020203" pitchFamily="34" charset="-79"/>
              </a:rPr>
              <a:t>eryone </a:t>
            </a:r>
            <a:endParaRPr lang="en-US" sz="24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endParaRPr>
          </a:p>
          <a:p>
            <a:r>
              <a:rPr lang="en-US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-Easy to Understand </a:t>
            </a:r>
          </a:p>
          <a:p>
            <a:r>
              <a:rPr lang="en-US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-Prioritization of tickets</a:t>
            </a:r>
          </a:p>
          <a:p>
            <a:r>
              <a:rPr lang="en-US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-Phone Accessibility</a:t>
            </a:r>
          </a:p>
          <a:p>
            <a:r>
              <a:rPr lang="en-US" dirty="0">
                <a:latin typeface="Gill Sans Nova Light" panose="020B0302020104020203" pitchFamily="34" charset="0"/>
                <a:cs typeface="Calibri"/>
              </a:rPr>
              <a:t>-Gamification</a:t>
            </a:r>
          </a:p>
          <a:p>
            <a:r>
              <a:rPr lang="en-US" dirty="0">
                <a:solidFill>
                  <a:schemeClr val="accent3"/>
                </a:solidFill>
                <a:latin typeface="Gill Sans Nova Light" panose="020B0302020104020203" pitchFamily="34" charset="0"/>
                <a:cs typeface="Calibri"/>
              </a:rPr>
              <a:t>- Ticket-based </a:t>
            </a:r>
          </a:p>
          <a:p>
            <a:endParaRPr lang="en-US" dirty="0">
              <a:solidFill>
                <a:schemeClr val="accent3"/>
              </a:solidFill>
              <a:latin typeface="Gill Sans Nova Light" panose="020B0302020104020203" pitchFamily="34" charset="0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7406-5839-A735-732D-5690E631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2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E564-4283-8AE2-ADD2-7B3FFCFA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860" y="2404872"/>
            <a:ext cx="9899588" cy="2002536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</a:t>
            </a:r>
            <a:br>
              <a:rPr lang="en-US" dirty="0"/>
            </a:br>
            <a:r>
              <a:rPr lang="en-US" sz="1600" dirty="0"/>
              <a:t>-</a:t>
            </a:r>
            <a:r>
              <a:rPr lang="en-US" sz="1800" dirty="0"/>
              <a:t>Make a team who is going to work on this project and help develop it</a:t>
            </a:r>
            <a:br>
              <a:rPr lang="en-US" sz="1800" dirty="0"/>
            </a:br>
            <a:r>
              <a:rPr lang="en-US" sz="1800" dirty="0"/>
              <a:t>-Make a list with all of the requirements your team would like on the application</a:t>
            </a:r>
            <a:br>
              <a:rPr lang="en-US" sz="1800" dirty="0"/>
            </a:br>
            <a:r>
              <a:rPr lang="en-US" sz="1800" dirty="0"/>
              <a:t>-Implement an agile method like scrum working on a two-week basis checking in every once in awhile</a:t>
            </a:r>
            <a:br>
              <a:rPr lang="en-US" dirty="0"/>
            </a:br>
            <a:r>
              <a:rPr lang="en-US" sz="1600" dirty="0"/>
              <a:t>-</a:t>
            </a:r>
            <a:r>
              <a:rPr lang="en-US" sz="1800" dirty="0"/>
              <a:t>Develop a user interface that the app would have to the customer, using gamification </a:t>
            </a:r>
            <a:br>
              <a:rPr lang="en-US" sz="1800" dirty="0"/>
            </a:br>
            <a:r>
              <a:rPr lang="en-US" sz="1800" dirty="0"/>
              <a:t>-Then release the application to the public and be ready to troubleshoot any errors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7ED29-D9DA-9DC6-8B43-80EC2A2E5B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634FAD-36DD-9FB0-7030-266A29178C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398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A80863-7DDD-E33E-7C2A-C806622CE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1CABBF9A-AC19-48D9-D218-D09928CE1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0394" y="3301247"/>
            <a:ext cx="1250823" cy="7946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Sourcing : Labor &amp; Cost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Developing the application would take about a 6 month period </a:t>
            </a:r>
          </a:p>
          <a:p>
            <a:r>
              <a:rPr lang="en-US" dirty="0"/>
              <a:t>The application would cost about “$12,000 to $25,000”</a:t>
            </a:r>
          </a:p>
          <a:p>
            <a:r>
              <a:rPr lang="en-US" dirty="0"/>
              <a:t>Labor costs depends on the experience and expertise of the developers but low end labor costs around $30 an </a:t>
            </a:r>
            <a:r>
              <a:rPr lang="en-US" dirty="0" err="1"/>
              <a:t>hr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018B6D-E395-49AD-92AD-AD69E3AB4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Scope Definition: List of Features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Ticket creation and resolution </a:t>
            </a:r>
          </a:p>
          <a:p>
            <a:r>
              <a:rPr lang="en-US" dirty="0"/>
              <a:t>User registration and authentication </a:t>
            </a:r>
          </a:p>
          <a:p>
            <a:r>
              <a:rPr lang="en-US" dirty="0"/>
              <a:t>Dashboard</a:t>
            </a:r>
          </a:p>
          <a:p>
            <a:r>
              <a:rPr lang="en-US" dirty="0"/>
              <a:t>Gamification (leaderboard, point system)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6CE65B-C283-8A90-DF86-161AC356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3817" y="6356350"/>
            <a:ext cx="4114800" cy="365125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https://devtechnosys.com/insights/cost-to-develop-ticket-booking-app/</a:t>
            </a:r>
            <a:endParaRPr lang="en-US" dirty="0"/>
          </a:p>
          <a:p>
            <a:endParaRPr lang="en-US" dirty="0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FEDDE84F-33A7-1FC6-0912-6F42974F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61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6A01-1D8C-E82D-69CE-C1BEA5E0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  <a:ea typeface="Baskerville" panose="02020502070401020303" pitchFamily="18" charset="0"/>
              </a:rPr>
              <a:t>Timeline</a:t>
            </a:r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37959-7D1F-FBB7-5094-0771517948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8D6E8-969C-81F9-8B97-1B42ED901A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Diagram 2" descr="Timeline">
            <a:extLst>
              <a:ext uri="{FF2B5EF4-FFF2-40B4-BE49-F238E27FC236}">
                <a16:creationId xmlns:a16="http://schemas.microsoft.com/office/drawing/2014/main" id="{1A75E301-F81B-604F-0C9B-A25BF04F064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919415265"/>
              </p:ext>
            </p:extLst>
          </p:nvPr>
        </p:nvGraphicFramePr>
        <p:xfrm>
          <a:off x="974725" y="2614613"/>
          <a:ext cx="10242550" cy="3319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893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4D5B-3E14-1349-3E16-232AA74E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Roles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8CE0E-745C-A7EE-B0DE-4912A73B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222743"/>
            <a:ext cx="1768260" cy="366617"/>
          </a:xfrm>
        </p:spPr>
        <p:txBody>
          <a:bodyPr>
            <a:normAutofit fontScale="92500"/>
          </a:bodyPr>
          <a:lstStyle/>
          <a:p>
            <a:r>
              <a:rPr lang="en-US" dirty="0"/>
              <a:t>Scrum Master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6DC79-3EA6-7325-3D0B-C041B8501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7"/>
            <a:ext cx="1681550" cy="2321256"/>
          </a:xfrm>
        </p:spPr>
        <p:txBody>
          <a:bodyPr>
            <a:normAutofit/>
          </a:bodyPr>
          <a:lstStyle/>
          <a:p>
            <a:r>
              <a:rPr lang="en-US" dirty="0"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Making sure everyone is in line, and takes the lead in decisions needing to be made</a:t>
            </a:r>
            <a:endParaRPr lang="en-US" sz="1600" dirty="0">
              <a:solidFill>
                <a:schemeClr val="accent3"/>
              </a:solidFill>
              <a:latin typeface="Gill Sans Nova Light" panose="020B0302020104020203" pitchFamily="34" charset="0"/>
              <a:ea typeface="+mn-lt"/>
              <a:cs typeface="Gill Sans Light" panose="020B0302020104020203" pitchFamily="34" charset="-79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645B0-0A7B-7091-C8D6-E7D27FA25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99408" y="2151993"/>
            <a:ext cx="1894069" cy="437367"/>
          </a:xfrm>
        </p:spPr>
        <p:txBody>
          <a:bodyPr>
            <a:normAutofit fontScale="925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Baskerville Old Face" panose="02020602080505020303" pitchFamily="18" charset="77"/>
                <a:ea typeface="Baskerville" panose="02020502070401020303" pitchFamily="18" charset="0"/>
              </a:rPr>
              <a:t>Developers/Designers </a:t>
            </a:r>
            <a:endParaRPr lang="en-US" sz="160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B8494-23AF-BB4F-382C-D2B07675E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13504" y="2629116"/>
            <a:ext cx="1568880" cy="1517215"/>
          </a:xfrm>
        </p:spPr>
        <p:txBody>
          <a:bodyPr>
            <a:normAutofit/>
          </a:bodyPr>
          <a:lstStyle/>
          <a:p>
            <a:r>
              <a:rPr lang="en-US" dirty="0"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Responsible for developing and designing the application </a:t>
            </a:r>
            <a:endParaRPr lang="en-US" sz="1600" dirty="0">
              <a:solidFill>
                <a:schemeClr val="accent3"/>
              </a:solidFill>
              <a:latin typeface="Gill Sans Nova Light" panose="020B0302020104020203" pitchFamily="34" charset="0"/>
              <a:ea typeface="+mn-lt"/>
              <a:cs typeface="Gill Sans Light" panose="020B0302020104020203" pitchFamily="34" charset="-79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CC0C3B-96FD-06F4-C3EC-9165854415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8803" y="2187367"/>
            <a:ext cx="1683757" cy="43736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Baskerville Old Face" panose="02020602080505020303" pitchFamily="18" charset="77"/>
                <a:ea typeface="Baskerville" panose="02020502070401020303" pitchFamily="18" charset="0"/>
              </a:rPr>
              <a:t>Testers</a:t>
            </a:r>
            <a:endParaRPr lang="en-US" sz="2000" dirty="0">
              <a:solidFill>
                <a:schemeClr val="accent3"/>
              </a:solidFill>
              <a:latin typeface="Baskerville Old Face" panose="02020602080505020303" pitchFamily="18" charset="77"/>
              <a:ea typeface="Baskerville" panose="02020502070401020303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E802B29-40B6-000C-8EDD-903910D08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9617" y="2734465"/>
            <a:ext cx="1872943" cy="3320861"/>
          </a:xfrm>
        </p:spPr>
        <p:txBody>
          <a:bodyPr/>
          <a:lstStyle/>
          <a:p>
            <a:r>
              <a:rPr lang="en-US" dirty="0"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Making sure the app words and that there is no bugs or problems </a:t>
            </a:r>
            <a:endParaRPr lang="en-US" sz="1600" dirty="0">
              <a:solidFill>
                <a:schemeClr val="accent3"/>
              </a:solidFill>
              <a:latin typeface="Gill Sans Nova Light" panose="020B0302020104020203" pitchFamily="34" charset="0"/>
              <a:cs typeface="Gill Sans Light" panose="020B0302020104020203" pitchFamily="34" charset="-79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D875C8-4D19-8AF8-6F98-F151E309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30094C-EC6A-E6F3-2E57-202E962A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34636C-C681-4504-F189-4FBE232F2396}"/>
              </a:ext>
            </a:extLst>
          </p:cNvPr>
          <p:cNvSpPr txBox="1"/>
          <p:nvPr/>
        </p:nvSpPr>
        <p:spPr>
          <a:xfrm>
            <a:off x="9569669" y="2151993"/>
            <a:ext cx="1785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Product Owner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47722-AECC-28BB-261D-9C9D2A196218}"/>
              </a:ext>
            </a:extLst>
          </p:cNvPr>
          <p:cNvSpPr txBox="1"/>
          <p:nvPr/>
        </p:nvSpPr>
        <p:spPr>
          <a:xfrm>
            <a:off x="9703676" y="2734465"/>
            <a:ext cx="1545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  <a:latin typeface="Gill Sans Nova Light" panose="020B0302020104020203" pitchFamily="34" charset="0"/>
                <a:ea typeface="+mn-lt"/>
                <a:cs typeface="Gill Sans Light" panose="020B0302020104020203" pitchFamily="34" charset="-79"/>
              </a:rPr>
              <a:t>Dr. Nick Miller because he provides feedback about the project </a:t>
            </a:r>
          </a:p>
        </p:txBody>
      </p:sp>
    </p:spTree>
    <p:extLst>
      <p:ext uri="{BB962C8B-B14F-4D97-AF65-F5344CB8AC3E}">
        <p14:creationId xmlns:p14="http://schemas.microsoft.com/office/powerpoint/2010/main" val="206812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4157-869F-9BBE-CFCF-717129CA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Baskerville Old Face" panose="02020602080505020303" pitchFamily="18" charset="77"/>
              </a:rPr>
              <a:t>Risks and Issues 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C05D-560D-1665-8879-549C0B4ED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accent3"/>
                </a:solidFill>
                <a:cs typeface="Calibri"/>
              </a:rPr>
              <a:t>Risks: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3"/>
                </a:solidFill>
                <a:cs typeface="Calibri"/>
              </a:rPr>
              <a:t>Technical, Resources, Finances and Security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cs typeface="Calibri"/>
              </a:rPr>
              <a:t>Issues: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3"/>
                </a:solidFill>
                <a:cs typeface="Calibri"/>
              </a:rPr>
              <a:t>Communication Issues with the client and stakeholders 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accent3"/>
              </a:solidFill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088D1-E89A-FD55-EB44-4941177453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26A48-6EF8-D4D0-2C6E-1F96935EA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2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4157-869F-9BBE-CFCF-717129CA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Assumptions/Constraints 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C05D-560D-1665-8879-549C0B4ED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985" y="2651760"/>
            <a:ext cx="8237483" cy="177835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3"/>
                </a:solidFill>
                <a:cs typeface="Calibri"/>
              </a:rPr>
              <a:t>That we have the technology to complete this project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Calibri"/>
              </a:rPr>
              <a:t>Requirements to be able to start and proceed with the project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3"/>
                </a:solidFill>
                <a:cs typeface="Calibri"/>
              </a:rPr>
              <a:t>The </a:t>
            </a:r>
            <a:r>
              <a:rPr lang="en-US" dirty="0">
                <a:cs typeface="Calibri"/>
              </a:rPr>
              <a:t>clients feedback to how the app works and what else they would like to see</a:t>
            </a:r>
            <a:endParaRPr lang="en-US" dirty="0">
              <a:solidFill>
                <a:schemeClr val="accent3"/>
              </a:solidFill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088D1-E89A-FD55-EB44-4941177453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26A48-6EF8-D4D0-2C6E-1F96935EA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00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B5DC-8C2B-5750-6E12-9A35C0FF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9025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-Flourish_Win32_CP_v8" id="{BCFB3359-BC8B-4F4E-99DD-822A55018E7C}" vid="{7DF7CEC2-9D9A-40F6-95E4-E2F6E93D64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{C39B375D-8498-4B60-8AE4-A71F4F866CC0}tf56410444_win32</Template>
  <TotalTime>67</TotalTime>
  <Words>459</Words>
  <Application>Microsoft Office PowerPoint</Application>
  <PresentationFormat>Widescreen</PresentationFormat>
  <Paragraphs>72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Baskerville</vt:lpstr>
      <vt:lpstr>Baskerville Old Face</vt:lpstr>
      <vt:lpstr>Calibri</vt:lpstr>
      <vt:lpstr>Gill Sans Light</vt:lpstr>
      <vt:lpstr>Gill Sans Nova</vt:lpstr>
      <vt:lpstr>Gill Sans Nova Light</vt:lpstr>
      <vt:lpstr>Office Theme</vt:lpstr>
      <vt:lpstr>LNS Education  Solutions </vt:lpstr>
      <vt:lpstr>Introduction</vt:lpstr>
      <vt:lpstr>Key Requirements </vt:lpstr>
      <vt:lpstr>Implementation  -Make a team who is going to work on this project and help develop it -Make a list with all of the requirements your team would like on the application -Implement an agile method like scrum working on a two-week basis checking in every once in awhile -Develop a user interface that the app would have to the customer, using gamification  -Then release the application to the public and be ready to troubleshoot any errors </vt:lpstr>
      <vt:lpstr>Feasibility </vt:lpstr>
      <vt:lpstr>Timeline </vt:lpstr>
      <vt:lpstr>Roles </vt:lpstr>
      <vt:lpstr>Risks and Issues  </vt:lpstr>
      <vt:lpstr>Assumptions/Constraints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LNS Education  Solutions </dc:title>
  <dc:creator>Lillie Harper</dc:creator>
  <cp:lastModifiedBy>Lillie Harper</cp:lastModifiedBy>
  <cp:revision>1</cp:revision>
  <dcterms:created xsi:type="dcterms:W3CDTF">2023-09-08T19:26:26Z</dcterms:created>
  <dcterms:modified xsi:type="dcterms:W3CDTF">2023-09-08T20:33:33Z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